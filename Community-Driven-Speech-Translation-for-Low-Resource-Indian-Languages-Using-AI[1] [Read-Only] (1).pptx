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4" r:id="rId7"/>
    <p:sldId id="262" r:id="rId8"/>
    <p:sldId id="263" r:id="rId9"/>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8538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5.png"/><Relationship Id="rId7"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1.png"/><Relationship Id="rId7"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1074623" y="1619227"/>
            <a:ext cx="7556421" cy="2835116"/>
          </a:xfrm>
          <a:prstGeom prst="rect">
            <a:avLst/>
          </a:prstGeom>
          <a:noFill/>
          <a:ln/>
        </p:spPr>
        <p:txBody>
          <a:bodyPr wrap="square" lIns="0" tIns="0" rIns="0" bIns="0" rtlCol="0" anchor="t"/>
          <a:lstStyle/>
          <a:p>
            <a:pPr marL="0" indent="0" algn="ctr">
              <a:lnSpc>
                <a:spcPts val="5550"/>
              </a:lnSpc>
              <a:buNone/>
            </a:pPr>
            <a:r>
              <a:rPr lang="en-US" sz="4000" b="1" dirty="0">
                <a:solidFill>
                  <a:srgbClr val="1B1B27"/>
                </a:solidFill>
                <a:latin typeface="Times New Roman" panose="02020603050405020304" pitchFamily="18" charset="0"/>
                <a:ea typeface="Alexandria" pitchFamily="34" charset="-122"/>
                <a:cs typeface="Times New Roman" panose="02020603050405020304" pitchFamily="18" charset="0"/>
              </a:rPr>
              <a:t>Community-Driven Speech Translation for Low-Resource Indian Languages Using AI</a:t>
            </a:r>
            <a:endParaRPr lang="en-US" sz="4000" b="1" dirty="0">
              <a:latin typeface="Times New Roman" panose="02020603050405020304" pitchFamily="18" charset="0"/>
              <a:cs typeface="Times New Roman" panose="02020603050405020304" pitchFamily="18" charset="0"/>
            </a:endParaRPr>
          </a:p>
        </p:txBody>
      </p:sp>
      <p:sp>
        <p:nvSpPr>
          <p:cNvPr id="4" name="Subtitle 2">
            <a:extLst>
              <a:ext uri="{FF2B5EF4-FFF2-40B4-BE49-F238E27FC236}">
                <a16:creationId xmlns:a16="http://schemas.microsoft.com/office/drawing/2014/main" id="{B3859DB0-927B-F54D-7B85-F0375DBCF0D1}"/>
              </a:ext>
            </a:extLst>
          </p:cNvPr>
          <p:cNvSpPr txBox="1">
            <a:spLocks/>
          </p:cNvSpPr>
          <p:nvPr/>
        </p:nvSpPr>
        <p:spPr>
          <a:xfrm>
            <a:off x="3915006" y="4258713"/>
            <a:ext cx="3924301" cy="1752600"/>
          </a:xfrm>
          <a:prstGeom prst="rect">
            <a:avLst/>
          </a:prstGeom>
        </p:spPr>
        <p:txBody>
          <a:bodyPr>
            <a:normAutofit fontScale="77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N" b="1" dirty="0">
                <a:latin typeface="Times New Roman" panose="02020603050405020304" pitchFamily="18" charset="0"/>
                <a:cs typeface="Times New Roman" panose="02020603050405020304" pitchFamily="18" charset="0"/>
              </a:rPr>
              <a:t>    </a:t>
            </a:r>
            <a:r>
              <a:rPr lang="en-IN" sz="2900" b="1" dirty="0">
                <a:latin typeface="Times New Roman" panose="02020603050405020304" pitchFamily="18" charset="0"/>
                <a:cs typeface="Times New Roman" panose="02020603050405020304" pitchFamily="18" charset="0"/>
              </a:rPr>
              <a:t>Team:</a:t>
            </a:r>
          </a:p>
          <a:p>
            <a:pPr marL="0" indent="0">
              <a:buNone/>
            </a:pPr>
            <a:r>
              <a:rPr lang="en-IN" sz="2900" dirty="0">
                <a:latin typeface="Times New Roman" panose="02020603050405020304" pitchFamily="18" charset="0"/>
                <a:cs typeface="Times New Roman" panose="02020603050405020304" pitchFamily="18" charset="0"/>
              </a:rPr>
              <a:t>22071A3230</a:t>
            </a:r>
          </a:p>
          <a:p>
            <a:pPr marL="0" indent="0">
              <a:buNone/>
            </a:pPr>
            <a:r>
              <a:rPr lang="en-IN" sz="2900" dirty="0">
                <a:latin typeface="Times New Roman" panose="02020603050405020304" pitchFamily="18" charset="0"/>
                <a:cs typeface="Times New Roman" panose="02020603050405020304" pitchFamily="18" charset="0"/>
              </a:rPr>
              <a:t>23075A3203</a:t>
            </a:r>
          </a:p>
          <a:p>
            <a:pPr marL="0" indent="0">
              <a:buNone/>
            </a:pPr>
            <a:r>
              <a:rPr lang="en-IN" sz="2900" dirty="0">
                <a:latin typeface="Times New Roman" panose="02020603050405020304" pitchFamily="18" charset="0"/>
                <a:cs typeface="Times New Roman" panose="02020603050405020304" pitchFamily="18" charset="0"/>
              </a:rPr>
              <a:t>23075A3204</a:t>
            </a:r>
          </a:p>
          <a:p>
            <a:pPr marL="0" indent="0">
              <a:buNone/>
            </a:pPr>
            <a:r>
              <a:rPr lang="en-IN" sz="2900" dirty="0">
                <a:latin typeface="Times New Roman" panose="02020603050405020304" pitchFamily="18" charset="0"/>
                <a:cs typeface="Times New Roman" panose="02020603050405020304" pitchFamily="18" charset="0"/>
              </a:rPr>
              <a:t>23075A3205</a:t>
            </a:r>
          </a:p>
        </p:txBody>
      </p:sp>
      <p:sp>
        <p:nvSpPr>
          <p:cNvPr id="5" name="Subtitle 2">
            <a:extLst>
              <a:ext uri="{FF2B5EF4-FFF2-40B4-BE49-F238E27FC236}">
                <a16:creationId xmlns:a16="http://schemas.microsoft.com/office/drawing/2014/main" id="{50794CE8-A9D0-7062-FE08-9E70B68D466D}"/>
              </a:ext>
            </a:extLst>
          </p:cNvPr>
          <p:cNvSpPr txBox="1">
            <a:spLocks/>
          </p:cNvSpPr>
          <p:nvPr/>
        </p:nvSpPr>
        <p:spPr>
          <a:xfrm>
            <a:off x="1516567" y="6258509"/>
            <a:ext cx="6601522" cy="1752600"/>
          </a:xfrm>
          <a:prstGeom prst="rect">
            <a:avLst/>
          </a:prstGeom>
        </p:spPr>
        <p:txBody>
          <a:bodyPr vert="horz" lIns="91440" tIns="45720" rIns="91440" bIns="45720" rtlCol="0">
            <a:normAutofit fontScale="25000" lnSpcReduction="20000"/>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nSpc>
                <a:spcPct val="120000"/>
              </a:lnSpc>
            </a:pPr>
            <a:r>
              <a:rPr lang="en-IN" sz="8000" b="1" dirty="0">
                <a:solidFill>
                  <a:schemeClr val="tx1">
                    <a:lumMod val="95000"/>
                    <a:lumOff val="5000"/>
                  </a:schemeClr>
                </a:solidFill>
                <a:latin typeface="Times New Roman" panose="02020603050405020304" pitchFamily="18" charset="0"/>
                <a:cs typeface="Times New Roman" panose="02020603050405020304" pitchFamily="18" charset="0"/>
              </a:rPr>
              <a:t>Under the Guidance of:</a:t>
            </a:r>
          </a:p>
          <a:p>
            <a:pPr>
              <a:lnSpc>
                <a:spcPct val="120000"/>
              </a:lnSpc>
            </a:pPr>
            <a:r>
              <a:rPr lang="en-IN" sz="8000" dirty="0">
                <a:solidFill>
                  <a:schemeClr val="tx1">
                    <a:lumMod val="95000"/>
                    <a:lumOff val="5000"/>
                  </a:schemeClr>
                </a:solidFill>
                <a:latin typeface="Times New Roman" panose="02020603050405020304" pitchFamily="18" charset="0"/>
                <a:cs typeface="Times New Roman" panose="02020603050405020304" pitchFamily="18" charset="0"/>
              </a:rPr>
              <a:t>Dr. R Vasavi</a:t>
            </a:r>
          </a:p>
          <a:p>
            <a:pPr>
              <a:lnSpc>
                <a:spcPct val="120000"/>
              </a:lnSpc>
              <a:spcBef>
                <a:spcPct val="0"/>
              </a:spcBef>
            </a:pPr>
            <a:r>
              <a:rPr lang="en-US" sz="8000" dirty="0">
                <a:solidFill>
                  <a:schemeClr val="tx1">
                    <a:lumMod val="95000"/>
                    <a:lumOff val="5000"/>
                  </a:schemeClr>
                </a:solidFill>
                <a:latin typeface="Times New Roman" panose="02020603050405020304" pitchFamily="18" charset="0"/>
                <a:ea typeface="Garet"/>
                <a:cs typeface="Times New Roman" panose="02020603050405020304" pitchFamily="18" charset="0"/>
                <a:sym typeface="Garet"/>
              </a:rPr>
              <a:t>Senior Assistant Professor</a:t>
            </a:r>
          </a:p>
          <a:p>
            <a:pPr>
              <a:lnSpc>
                <a:spcPct val="120000"/>
              </a:lnSpc>
              <a:spcBef>
                <a:spcPct val="0"/>
              </a:spcBef>
            </a:pPr>
            <a:r>
              <a:rPr lang="en-US" sz="8000" dirty="0">
                <a:solidFill>
                  <a:schemeClr val="tx1">
                    <a:lumMod val="95000"/>
                    <a:lumOff val="5000"/>
                  </a:schemeClr>
                </a:solidFill>
                <a:latin typeface="Times New Roman" panose="02020603050405020304" pitchFamily="18" charset="0"/>
                <a:ea typeface="Garet"/>
                <a:cs typeface="Times New Roman" panose="02020603050405020304" pitchFamily="18" charset="0"/>
                <a:sym typeface="Garet"/>
              </a:rPr>
              <a:t>Computer Science and Engineering &amp; CSBS </a:t>
            </a:r>
          </a:p>
          <a:p>
            <a:pPr>
              <a:lnSpc>
                <a:spcPct val="120000"/>
              </a:lnSpc>
              <a:spcBef>
                <a:spcPct val="0"/>
              </a:spcBef>
            </a:pPr>
            <a:r>
              <a:rPr lang="en-US" sz="8000" dirty="0">
                <a:solidFill>
                  <a:schemeClr val="tx1">
                    <a:lumMod val="95000"/>
                    <a:lumOff val="5000"/>
                  </a:schemeClr>
                </a:solidFill>
                <a:latin typeface="Times New Roman" panose="02020603050405020304" pitchFamily="18" charset="0"/>
                <a:ea typeface="Garet"/>
                <a:cs typeface="Times New Roman" panose="02020603050405020304" pitchFamily="18" charset="0"/>
                <a:sym typeface="Garet"/>
              </a:rPr>
              <a:t>VNR Vignana Jyothi Institute of Engineering and Technology</a:t>
            </a:r>
          </a:p>
          <a:p>
            <a:endParaRPr lang="en-IN" sz="2800" b="1"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IN" sz="2800"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US" dirty="0"/>
          </a:p>
        </p:txBody>
      </p:sp>
      <p:pic>
        <p:nvPicPr>
          <p:cNvPr id="9" name="Picture 8">
            <a:extLst>
              <a:ext uri="{FF2B5EF4-FFF2-40B4-BE49-F238E27FC236}">
                <a16:creationId xmlns:a16="http://schemas.microsoft.com/office/drawing/2014/main" id="{5BA55257-7CD3-1C06-0704-F9A8C8EDFA49}"/>
              </a:ext>
            </a:extLst>
          </p:cNvPr>
          <p:cNvPicPr>
            <a:picLocks noChangeAspect="1"/>
          </p:cNvPicPr>
          <p:nvPr/>
        </p:nvPicPr>
        <p:blipFill>
          <a:blip r:embed="rId4"/>
          <a:stretch>
            <a:fillRect/>
          </a:stretch>
        </p:blipFill>
        <p:spPr>
          <a:xfrm>
            <a:off x="839516" y="208693"/>
            <a:ext cx="7456993" cy="116333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210991"/>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3" name="Text 1"/>
          <p:cNvSpPr/>
          <p:nvPr/>
        </p:nvSpPr>
        <p:spPr>
          <a:xfrm>
            <a:off x="1358147" y="2128745"/>
            <a:ext cx="5670590" cy="708779"/>
          </a:xfrm>
          <a:prstGeom prst="rect">
            <a:avLst/>
          </a:prstGeom>
          <a:noFill/>
          <a:ln/>
        </p:spPr>
        <p:txBody>
          <a:bodyPr wrap="none" lIns="0" tIns="0" rIns="0" bIns="0" rtlCol="0" anchor="t"/>
          <a:lstStyle/>
          <a:p>
            <a:pPr marL="0" indent="0" algn="l">
              <a:lnSpc>
                <a:spcPts val="5550"/>
              </a:lnSpc>
              <a:buNone/>
            </a:pPr>
            <a:r>
              <a:rPr lang="en-US" sz="3200" b="1" dirty="0">
                <a:solidFill>
                  <a:srgbClr val="1B1B27"/>
                </a:solidFill>
                <a:latin typeface="Times New Roman" panose="02020603050405020304" pitchFamily="18" charset="0"/>
                <a:ea typeface="Alexandria" pitchFamily="34" charset="-122"/>
                <a:cs typeface="Times New Roman" panose="02020603050405020304" pitchFamily="18" charset="0"/>
              </a:rPr>
              <a:t>ABSTRACT</a:t>
            </a:r>
            <a:endParaRPr lang="en-US" sz="3200" b="1" dirty="0">
              <a:latin typeface="Times New Roman" panose="02020603050405020304" pitchFamily="18" charset="0"/>
              <a:cs typeface="Times New Roman" panose="02020603050405020304" pitchFamily="18" charset="0"/>
            </a:endParaRPr>
          </a:p>
        </p:txBody>
      </p:sp>
      <p:sp>
        <p:nvSpPr>
          <p:cNvPr id="4" name="Text 2"/>
          <p:cNvSpPr/>
          <p:nvPr/>
        </p:nvSpPr>
        <p:spPr>
          <a:xfrm>
            <a:off x="1358147" y="2919770"/>
            <a:ext cx="10457791" cy="3262252"/>
          </a:xfrm>
          <a:prstGeom prst="rect">
            <a:avLst/>
          </a:prstGeom>
          <a:noFill/>
          <a:ln/>
        </p:spPr>
        <p:txBody>
          <a:bodyPr wrap="square" lIns="0" tIns="0" rIns="0" bIns="0" rtlCol="0" anchor="t"/>
          <a:lstStyle/>
          <a:p>
            <a:pPr marL="0" indent="0" algn="just">
              <a:lnSpc>
                <a:spcPts val="2850"/>
              </a:lnSpc>
              <a:buNone/>
            </a:pPr>
            <a:r>
              <a:rPr lang="en-US"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Millions of speakers of local and tribal languages remain excluded from digital services due to a lack of language support in modern technologies. This initiative developed a web-based speech-to-language translation platform using artificial intelligence and community-driven validation. The system accepts spoken or uploaded audio in native languages and delivers real-time, culturally appropriate translations. It integrates AI-based speech recognition for low-resource languages and incorporates native speaker feedback to refine accuracy. A </a:t>
            </a:r>
            <a:r>
              <a:rPr lang="en-US" b="1"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Cultural Context Engine</a:t>
            </a:r>
            <a:r>
              <a:rPr lang="en-US"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 ensures translations preserve both literal and intended meanings, fostering inclusive, respectful, and reliable communication.</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D94C667-AB70-050F-3777-6D44C47BC0BF}"/>
              </a:ext>
            </a:extLst>
          </p:cNvPr>
          <p:cNvPicPr>
            <a:picLocks noChangeAspect="1"/>
          </p:cNvPicPr>
          <p:nvPr/>
        </p:nvPicPr>
        <p:blipFill>
          <a:blip r:embed="rId3"/>
          <a:stretch>
            <a:fillRect/>
          </a:stretch>
        </p:blipFill>
        <p:spPr>
          <a:xfrm>
            <a:off x="12334555" y="7680721"/>
            <a:ext cx="2295845" cy="548879"/>
          </a:xfrm>
          <a:prstGeom prst="rect">
            <a:avLst/>
          </a:prstGeom>
        </p:spPr>
      </p:pic>
      <p:pic>
        <p:nvPicPr>
          <p:cNvPr id="8" name="Picture 7">
            <a:extLst>
              <a:ext uri="{FF2B5EF4-FFF2-40B4-BE49-F238E27FC236}">
                <a16:creationId xmlns:a16="http://schemas.microsoft.com/office/drawing/2014/main" id="{BD25FE11-97B8-F7BD-4C81-FA36D554513D}"/>
              </a:ext>
            </a:extLst>
          </p:cNvPr>
          <p:cNvPicPr>
            <a:picLocks noChangeAspect="1"/>
          </p:cNvPicPr>
          <p:nvPr/>
        </p:nvPicPr>
        <p:blipFill>
          <a:blip r:embed="rId4"/>
          <a:stretch>
            <a:fillRect/>
          </a:stretch>
        </p:blipFill>
        <p:spPr>
          <a:xfrm>
            <a:off x="839516" y="208693"/>
            <a:ext cx="9230035" cy="143994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911185"/>
            <a:ext cx="2835235" cy="354330"/>
          </a:xfrm>
          <a:prstGeom prst="rect">
            <a:avLst/>
          </a:prstGeom>
          <a:noFill/>
          <a:ln/>
        </p:spPr>
        <p:txBody>
          <a:bodyPr wrap="none" lIns="0" tIns="0" rIns="0" bIns="0" rtlCol="0" anchor="t"/>
          <a:lstStyle/>
          <a:p>
            <a:pPr marL="0" indent="0" algn="l">
              <a:lnSpc>
                <a:spcPts val="2750"/>
              </a:lnSpc>
              <a:buNone/>
            </a:pP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968316" y="1575197"/>
            <a:ext cx="5670590" cy="708779"/>
          </a:xfrm>
          <a:prstGeom prst="rect">
            <a:avLst/>
          </a:prstGeom>
          <a:noFill/>
          <a:ln/>
        </p:spPr>
        <p:txBody>
          <a:bodyPr wrap="none" lIns="0" tIns="0" rIns="0" bIns="0" rtlCol="0" anchor="t"/>
          <a:lstStyle/>
          <a:p>
            <a:pPr marL="0" indent="0" algn="l">
              <a:lnSpc>
                <a:spcPts val="5550"/>
              </a:lnSpc>
              <a:buNone/>
            </a:pPr>
            <a:r>
              <a:rPr lang="en-US" sz="3200" b="1" dirty="0">
                <a:solidFill>
                  <a:schemeClr val="tx1">
                    <a:lumMod val="95000"/>
                    <a:lumOff val="5000"/>
                  </a:schemeClr>
                </a:solidFill>
                <a:latin typeface="Times New Roman" panose="02020603050405020304" pitchFamily="18" charset="0"/>
                <a:ea typeface="Alexandria" pitchFamily="34" charset="-122"/>
                <a:cs typeface="Times New Roman" panose="02020603050405020304" pitchFamily="18" charset="0"/>
              </a:rPr>
              <a:t>INTRODUCTION</a:t>
            </a:r>
            <a:endParaRPr lang="en-US" sz="32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4" name="Shape 2"/>
          <p:cNvSpPr/>
          <p:nvPr/>
        </p:nvSpPr>
        <p:spPr>
          <a:xfrm>
            <a:off x="793790" y="2541270"/>
            <a:ext cx="6407944" cy="2456617"/>
          </a:xfrm>
          <a:prstGeom prst="roundRect">
            <a:avLst>
              <a:gd name="adj" fmla="val 5956"/>
            </a:avLst>
          </a:prstGeom>
          <a:solidFill>
            <a:srgbClr val="F9F9FF"/>
          </a:solidFill>
          <a:ln w="30480">
            <a:solidFill>
              <a:srgbClr val="B8C3DF"/>
            </a:solidFill>
            <a:prstDash val="solid"/>
          </a:ln>
        </p:spPr>
        <p:txBody>
          <a:bodyPr/>
          <a:lstStyle/>
          <a:p>
            <a:endParaRPr lang="en-IN">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5" name="Shape 3"/>
          <p:cNvSpPr/>
          <p:nvPr/>
        </p:nvSpPr>
        <p:spPr>
          <a:xfrm>
            <a:off x="763310" y="2541270"/>
            <a:ext cx="121920" cy="2456617"/>
          </a:xfrm>
          <a:prstGeom prst="roundRect">
            <a:avLst>
              <a:gd name="adj" fmla="val 78139"/>
            </a:avLst>
          </a:prstGeom>
          <a:solidFill>
            <a:srgbClr val="1B54DA"/>
          </a:solidFill>
          <a:ln/>
        </p:spPr>
      </p:sp>
      <p:sp>
        <p:nvSpPr>
          <p:cNvPr id="6" name="Text 4"/>
          <p:cNvSpPr/>
          <p:nvPr/>
        </p:nvSpPr>
        <p:spPr>
          <a:xfrm>
            <a:off x="1142524" y="2798564"/>
            <a:ext cx="2835235" cy="354330"/>
          </a:xfrm>
          <a:prstGeom prst="rect">
            <a:avLst/>
          </a:prstGeom>
          <a:noFill/>
          <a:ln/>
        </p:spPr>
        <p:txBody>
          <a:bodyPr wrap="none" lIns="0" tIns="0" rIns="0" bIns="0" rtlCol="0" anchor="t"/>
          <a:lstStyle/>
          <a:p>
            <a:pPr marL="0" indent="0" algn="l">
              <a:lnSpc>
                <a:spcPts val="2750"/>
              </a:lnSpc>
              <a:buNone/>
            </a:pPr>
            <a:r>
              <a:rPr lang="en-US" dirty="0">
                <a:solidFill>
                  <a:schemeClr val="tx1">
                    <a:lumMod val="95000"/>
                    <a:lumOff val="5000"/>
                  </a:schemeClr>
                </a:solidFill>
                <a:latin typeface="Times New Roman" panose="02020603050405020304" pitchFamily="18" charset="0"/>
                <a:ea typeface="Alexandria" pitchFamily="34" charset="-122"/>
                <a:cs typeface="Times New Roman" panose="02020603050405020304" pitchFamily="18" charset="0"/>
              </a:rPr>
              <a:t>Digital Exclusion</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ext 5"/>
          <p:cNvSpPr/>
          <p:nvPr/>
        </p:nvSpPr>
        <p:spPr>
          <a:xfrm>
            <a:off x="1142524" y="3288983"/>
            <a:ext cx="5801916" cy="1088708"/>
          </a:xfrm>
          <a:prstGeom prst="rect">
            <a:avLst/>
          </a:prstGeom>
          <a:noFill/>
          <a:ln/>
        </p:spPr>
        <p:txBody>
          <a:bodyPr wrap="square" lIns="0" tIns="0" rIns="0" bIns="0" rtlCol="0" anchor="t"/>
          <a:lstStyle/>
          <a:p>
            <a:pPr marL="0" indent="0" algn="l">
              <a:lnSpc>
                <a:spcPts val="2850"/>
              </a:lnSpc>
              <a:buNone/>
            </a:pPr>
            <a:r>
              <a:rPr lang="en-US"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Local and tribal languages often lack adequate support in modern tech platforms, leading to the digital exclusion of millions of native speakers.</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8" name="Shape 6"/>
          <p:cNvSpPr/>
          <p:nvPr/>
        </p:nvSpPr>
        <p:spPr>
          <a:xfrm>
            <a:off x="7428548" y="2541270"/>
            <a:ext cx="6408063" cy="2456617"/>
          </a:xfrm>
          <a:prstGeom prst="roundRect">
            <a:avLst>
              <a:gd name="adj" fmla="val 5956"/>
            </a:avLst>
          </a:prstGeom>
          <a:solidFill>
            <a:srgbClr val="F9F9FF"/>
          </a:solidFill>
          <a:ln w="30480">
            <a:solidFill>
              <a:srgbClr val="B8C3DF"/>
            </a:solidFill>
            <a:prstDash val="solid"/>
          </a:ln>
        </p:spPr>
      </p:sp>
      <p:sp>
        <p:nvSpPr>
          <p:cNvPr id="9" name="Shape 7"/>
          <p:cNvSpPr/>
          <p:nvPr/>
        </p:nvSpPr>
        <p:spPr>
          <a:xfrm>
            <a:off x="7398067" y="2541270"/>
            <a:ext cx="121920" cy="2456617"/>
          </a:xfrm>
          <a:prstGeom prst="roundRect">
            <a:avLst>
              <a:gd name="adj" fmla="val 78139"/>
            </a:avLst>
          </a:prstGeom>
          <a:solidFill>
            <a:srgbClr val="1B54DA"/>
          </a:solidFill>
          <a:ln/>
        </p:spPr>
      </p:sp>
      <p:sp>
        <p:nvSpPr>
          <p:cNvPr id="10" name="Text 8"/>
          <p:cNvSpPr/>
          <p:nvPr/>
        </p:nvSpPr>
        <p:spPr>
          <a:xfrm>
            <a:off x="7777282" y="2798564"/>
            <a:ext cx="2835235" cy="354330"/>
          </a:xfrm>
          <a:prstGeom prst="rect">
            <a:avLst/>
          </a:prstGeom>
          <a:noFill/>
          <a:ln/>
        </p:spPr>
        <p:txBody>
          <a:bodyPr wrap="none" lIns="0" tIns="0" rIns="0" bIns="0" rtlCol="0" anchor="t"/>
          <a:lstStyle/>
          <a:p>
            <a:pPr marL="0" indent="0" algn="l">
              <a:lnSpc>
                <a:spcPts val="2750"/>
              </a:lnSpc>
              <a:buNone/>
            </a:pPr>
            <a:r>
              <a:rPr lang="en-US" dirty="0">
                <a:solidFill>
                  <a:schemeClr val="tx1">
                    <a:lumMod val="95000"/>
                    <a:lumOff val="5000"/>
                  </a:schemeClr>
                </a:solidFill>
                <a:latin typeface="Times New Roman" panose="02020603050405020304" pitchFamily="18" charset="0"/>
                <a:ea typeface="Alexandria" pitchFamily="34" charset="-122"/>
                <a:cs typeface="Times New Roman" panose="02020603050405020304" pitchFamily="18" charset="0"/>
              </a:rPr>
              <a:t>High-Resource Bias</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1" name="Text 9"/>
          <p:cNvSpPr/>
          <p:nvPr/>
        </p:nvSpPr>
        <p:spPr>
          <a:xfrm>
            <a:off x="7777282" y="3288983"/>
            <a:ext cx="5802035" cy="1451610"/>
          </a:xfrm>
          <a:prstGeom prst="rect">
            <a:avLst/>
          </a:prstGeom>
          <a:noFill/>
          <a:ln/>
        </p:spPr>
        <p:txBody>
          <a:bodyPr wrap="square" lIns="0" tIns="0" rIns="0" bIns="0" rtlCol="0" anchor="t"/>
          <a:lstStyle/>
          <a:p>
            <a:pPr marL="0" indent="0" algn="l">
              <a:lnSpc>
                <a:spcPts val="2850"/>
              </a:lnSpc>
              <a:buNone/>
            </a:pPr>
            <a:r>
              <a:rPr lang="en-US"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Most existing AI language systems disproportionately focus on high-resource languages, overlooking the unique linguistic needs of smaller communities.</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2" name="Shape 10"/>
          <p:cNvSpPr/>
          <p:nvPr/>
        </p:nvSpPr>
        <p:spPr>
          <a:xfrm>
            <a:off x="793790" y="5224701"/>
            <a:ext cx="6407944" cy="2093714"/>
          </a:xfrm>
          <a:prstGeom prst="roundRect">
            <a:avLst>
              <a:gd name="adj" fmla="val 6988"/>
            </a:avLst>
          </a:prstGeom>
          <a:solidFill>
            <a:srgbClr val="F9F9FF"/>
          </a:solidFill>
          <a:ln w="30480">
            <a:solidFill>
              <a:srgbClr val="B8C3DF"/>
            </a:solidFill>
            <a:prstDash val="solid"/>
          </a:ln>
        </p:spPr>
      </p:sp>
      <p:sp>
        <p:nvSpPr>
          <p:cNvPr id="13" name="Shape 11"/>
          <p:cNvSpPr/>
          <p:nvPr/>
        </p:nvSpPr>
        <p:spPr>
          <a:xfrm>
            <a:off x="763310" y="5224701"/>
            <a:ext cx="121920" cy="2093714"/>
          </a:xfrm>
          <a:prstGeom prst="roundRect">
            <a:avLst>
              <a:gd name="adj" fmla="val 78139"/>
            </a:avLst>
          </a:prstGeom>
          <a:solidFill>
            <a:srgbClr val="1B54DA"/>
          </a:solidFill>
          <a:ln/>
        </p:spPr>
      </p:sp>
      <p:sp>
        <p:nvSpPr>
          <p:cNvPr id="14" name="Text 12"/>
          <p:cNvSpPr/>
          <p:nvPr/>
        </p:nvSpPr>
        <p:spPr>
          <a:xfrm>
            <a:off x="1142524" y="5481995"/>
            <a:ext cx="2835235" cy="354330"/>
          </a:xfrm>
          <a:prstGeom prst="rect">
            <a:avLst/>
          </a:prstGeom>
          <a:noFill/>
          <a:ln/>
        </p:spPr>
        <p:txBody>
          <a:bodyPr wrap="none" lIns="0" tIns="0" rIns="0" bIns="0" rtlCol="0" anchor="t"/>
          <a:lstStyle/>
          <a:p>
            <a:pPr marL="0" indent="0" algn="l">
              <a:lnSpc>
                <a:spcPts val="2750"/>
              </a:lnSpc>
              <a:buNone/>
            </a:pPr>
            <a:r>
              <a:rPr lang="en-US" dirty="0">
                <a:solidFill>
                  <a:schemeClr val="tx1">
                    <a:lumMod val="95000"/>
                    <a:lumOff val="5000"/>
                  </a:schemeClr>
                </a:solidFill>
                <a:latin typeface="Times New Roman" panose="02020603050405020304" pitchFamily="18" charset="0"/>
                <a:ea typeface="Alexandria" pitchFamily="34" charset="-122"/>
                <a:cs typeface="Times New Roman" panose="02020603050405020304" pitchFamily="18" charset="0"/>
              </a:rPr>
              <a:t>Cultural Oversight</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5" name="Text 13"/>
          <p:cNvSpPr/>
          <p:nvPr/>
        </p:nvSpPr>
        <p:spPr>
          <a:xfrm>
            <a:off x="1142524" y="5972413"/>
            <a:ext cx="5801916" cy="1088708"/>
          </a:xfrm>
          <a:prstGeom prst="rect">
            <a:avLst/>
          </a:prstGeom>
          <a:noFill/>
          <a:ln/>
        </p:spPr>
        <p:txBody>
          <a:bodyPr wrap="square" lIns="0" tIns="0" rIns="0" bIns="0" rtlCol="0" anchor="t"/>
          <a:lstStyle/>
          <a:p>
            <a:pPr marL="0" indent="0" algn="l">
              <a:lnSpc>
                <a:spcPts val="2850"/>
              </a:lnSpc>
              <a:buNone/>
            </a:pPr>
            <a:r>
              <a:rPr lang="en-US"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Cultural sensitivity and contextual nuances are frequently ignored in current translation models, leading to inaccurate or inappropriate renditions.</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6" name="Shape 14"/>
          <p:cNvSpPr/>
          <p:nvPr/>
        </p:nvSpPr>
        <p:spPr>
          <a:xfrm>
            <a:off x="7428548" y="5224701"/>
            <a:ext cx="6408063" cy="2093714"/>
          </a:xfrm>
          <a:prstGeom prst="roundRect">
            <a:avLst>
              <a:gd name="adj" fmla="val 6988"/>
            </a:avLst>
          </a:prstGeom>
          <a:solidFill>
            <a:srgbClr val="F9F9FF"/>
          </a:solidFill>
          <a:ln w="30480">
            <a:solidFill>
              <a:srgbClr val="B8C3DF"/>
            </a:solidFill>
            <a:prstDash val="solid"/>
          </a:ln>
        </p:spPr>
      </p:sp>
      <p:sp>
        <p:nvSpPr>
          <p:cNvPr id="17" name="Shape 15"/>
          <p:cNvSpPr/>
          <p:nvPr/>
        </p:nvSpPr>
        <p:spPr>
          <a:xfrm>
            <a:off x="7398067" y="5224701"/>
            <a:ext cx="121920" cy="2093714"/>
          </a:xfrm>
          <a:prstGeom prst="roundRect">
            <a:avLst>
              <a:gd name="adj" fmla="val 78139"/>
            </a:avLst>
          </a:prstGeom>
          <a:solidFill>
            <a:srgbClr val="1B54DA"/>
          </a:solidFill>
          <a:ln/>
        </p:spPr>
      </p:sp>
      <p:sp>
        <p:nvSpPr>
          <p:cNvPr id="18" name="Text 16"/>
          <p:cNvSpPr/>
          <p:nvPr/>
        </p:nvSpPr>
        <p:spPr>
          <a:xfrm>
            <a:off x="7777282" y="5481995"/>
            <a:ext cx="2919651" cy="354330"/>
          </a:xfrm>
          <a:prstGeom prst="rect">
            <a:avLst/>
          </a:prstGeom>
          <a:noFill/>
          <a:ln/>
        </p:spPr>
        <p:txBody>
          <a:bodyPr wrap="none" lIns="0" tIns="0" rIns="0" bIns="0" rtlCol="0" anchor="t"/>
          <a:lstStyle/>
          <a:p>
            <a:pPr marL="0" indent="0" algn="l">
              <a:lnSpc>
                <a:spcPts val="2750"/>
              </a:lnSpc>
              <a:buNone/>
            </a:pPr>
            <a:r>
              <a:rPr lang="en-US" dirty="0">
                <a:solidFill>
                  <a:schemeClr val="tx1">
                    <a:lumMod val="95000"/>
                    <a:lumOff val="5000"/>
                  </a:schemeClr>
                </a:solidFill>
                <a:latin typeface="Times New Roman" panose="02020603050405020304" pitchFamily="18" charset="0"/>
                <a:ea typeface="Alexandria" pitchFamily="34" charset="-122"/>
                <a:cs typeface="Times New Roman" panose="02020603050405020304" pitchFamily="18" charset="0"/>
              </a:rPr>
              <a:t>Inclusive Technology</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9" name="Text 17"/>
          <p:cNvSpPr/>
          <p:nvPr/>
        </p:nvSpPr>
        <p:spPr>
          <a:xfrm>
            <a:off x="7777282" y="5972413"/>
            <a:ext cx="5802035" cy="1088708"/>
          </a:xfrm>
          <a:prstGeom prst="rect">
            <a:avLst/>
          </a:prstGeom>
          <a:noFill/>
          <a:ln/>
        </p:spPr>
        <p:txBody>
          <a:bodyPr wrap="square" lIns="0" tIns="0" rIns="0" bIns="0" rtlCol="0" anchor="t"/>
          <a:lstStyle/>
          <a:p>
            <a:pPr marL="0" indent="0" algn="l">
              <a:lnSpc>
                <a:spcPts val="2850"/>
              </a:lnSpc>
              <a:buNone/>
            </a:pPr>
            <a:r>
              <a:rPr lang="en-US"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There is a pressing need for inclusive, community-aware language technology that respects linguistic diversity and cultural heritage.</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734F1F39-55EA-108B-0BE0-864024CF6777}"/>
              </a:ext>
            </a:extLst>
          </p:cNvPr>
          <p:cNvPicPr>
            <a:picLocks noChangeAspect="1"/>
          </p:cNvPicPr>
          <p:nvPr/>
        </p:nvPicPr>
        <p:blipFill>
          <a:blip r:embed="rId3"/>
          <a:stretch>
            <a:fillRect/>
          </a:stretch>
        </p:blipFill>
        <p:spPr>
          <a:xfrm>
            <a:off x="12334555" y="7680721"/>
            <a:ext cx="2295845" cy="428685"/>
          </a:xfrm>
          <a:prstGeom prst="rect">
            <a:avLst/>
          </a:prstGeom>
        </p:spPr>
      </p:pic>
      <p:pic>
        <p:nvPicPr>
          <p:cNvPr id="22" name="Picture 21">
            <a:extLst>
              <a:ext uri="{FF2B5EF4-FFF2-40B4-BE49-F238E27FC236}">
                <a16:creationId xmlns:a16="http://schemas.microsoft.com/office/drawing/2014/main" id="{A42397ED-0E63-9768-C979-755A0335D2C3}"/>
              </a:ext>
            </a:extLst>
          </p:cNvPr>
          <p:cNvPicPr>
            <a:picLocks noChangeAspect="1"/>
          </p:cNvPicPr>
          <p:nvPr/>
        </p:nvPicPr>
        <p:blipFill>
          <a:blip r:embed="rId4"/>
          <a:stretch>
            <a:fillRect/>
          </a:stretch>
        </p:blipFill>
        <p:spPr>
          <a:xfrm>
            <a:off x="839516" y="208693"/>
            <a:ext cx="9230035" cy="143994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745450"/>
            <a:ext cx="2835235" cy="354330"/>
          </a:xfrm>
          <a:prstGeom prst="rect">
            <a:avLst/>
          </a:prstGeom>
          <a:noFill/>
          <a:ln/>
        </p:spPr>
        <p:txBody>
          <a:bodyPr wrap="none" lIns="0" tIns="0" rIns="0" bIns="0" rtlCol="0" anchor="t"/>
          <a:lstStyle/>
          <a:p>
            <a:pPr marL="0" indent="0" algn="l">
              <a:lnSpc>
                <a:spcPts val="2750"/>
              </a:lnSpc>
              <a:buNone/>
            </a:pP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1001655" y="1653427"/>
            <a:ext cx="5670590" cy="708779"/>
          </a:xfrm>
          <a:prstGeom prst="rect">
            <a:avLst/>
          </a:prstGeom>
          <a:noFill/>
          <a:ln/>
        </p:spPr>
        <p:txBody>
          <a:bodyPr wrap="none" lIns="0" tIns="0" rIns="0" bIns="0" rtlCol="0" anchor="t"/>
          <a:lstStyle/>
          <a:p>
            <a:pPr marL="0" indent="0" algn="l">
              <a:lnSpc>
                <a:spcPts val="5550"/>
              </a:lnSpc>
              <a:buNone/>
            </a:pPr>
            <a:r>
              <a:rPr lang="en-US" dirty="0">
                <a:solidFill>
                  <a:schemeClr val="tx1">
                    <a:lumMod val="95000"/>
                    <a:lumOff val="5000"/>
                  </a:schemeClr>
                </a:solidFill>
                <a:latin typeface="Times New Roman" panose="02020603050405020304" pitchFamily="18" charset="0"/>
                <a:ea typeface="Alexandria" pitchFamily="34" charset="-122"/>
                <a:cs typeface="Times New Roman" panose="02020603050405020304" pitchFamily="18" charset="0"/>
              </a:rPr>
              <a:t> </a:t>
            </a:r>
            <a:r>
              <a:rPr lang="en-US" sz="3200" b="1" dirty="0">
                <a:solidFill>
                  <a:schemeClr val="tx1">
                    <a:lumMod val="95000"/>
                    <a:lumOff val="5000"/>
                  </a:schemeClr>
                </a:solidFill>
                <a:latin typeface="Times New Roman" panose="02020603050405020304" pitchFamily="18" charset="0"/>
                <a:ea typeface="Alexandria" pitchFamily="34" charset="-122"/>
                <a:cs typeface="Times New Roman" panose="02020603050405020304" pitchFamily="18" charset="0"/>
              </a:rPr>
              <a:t>RESEARCH GAPS</a:t>
            </a:r>
            <a:endParaRPr lang="en-US" sz="32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3247430" y="2375535"/>
            <a:ext cx="1614011" cy="807958"/>
          </a:xfrm>
          <a:prstGeom prst="rect">
            <a:avLst/>
          </a:prstGeom>
        </p:spPr>
      </p:pic>
      <p:sp>
        <p:nvSpPr>
          <p:cNvPr id="5" name="Text 2"/>
          <p:cNvSpPr/>
          <p:nvPr/>
        </p:nvSpPr>
        <p:spPr>
          <a:xfrm>
            <a:off x="3894892" y="2667357"/>
            <a:ext cx="318968" cy="398621"/>
          </a:xfrm>
          <a:prstGeom prst="rect">
            <a:avLst/>
          </a:prstGeom>
          <a:noFill/>
          <a:ln/>
        </p:spPr>
        <p:txBody>
          <a:bodyPr wrap="none" lIns="0" tIns="0" rIns="0" bIns="0" rtlCol="0" anchor="t"/>
          <a:lstStyle/>
          <a:p>
            <a:pPr marL="0" indent="0" algn="ctr">
              <a:lnSpc>
                <a:spcPts val="4000"/>
              </a:lnSpc>
              <a:buNone/>
            </a:pPr>
            <a:r>
              <a:rPr lang="en-US" dirty="0">
                <a:solidFill>
                  <a:schemeClr val="tx1">
                    <a:lumMod val="95000"/>
                    <a:lumOff val="5000"/>
                  </a:schemeClr>
                </a:solidFill>
                <a:latin typeface="Times New Roman" panose="02020603050405020304" pitchFamily="18" charset="0"/>
                <a:ea typeface="Alexandria" pitchFamily="34" charset="-122"/>
                <a:cs typeface="Times New Roman" panose="02020603050405020304" pitchFamily="18" charset="0"/>
              </a:rPr>
              <a:t>1</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6" name="Text 3"/>
          <p:cNvSpPr/>
          <p:nvPr/>
        </p:nvSpPr>
        <p:spPr>
          <a:xfrm>
            <a:off x="5088255" y="2602349"/>
            <a:ext cx="3206353" cy="354330"/>
          </a:xfrm>
          <a:prstGeom prst="rect">
            <a:avLst/>
          </a:prstGeom>
          <a:noFill/>
          <a:ln/>
        </p:spPr>
        <p:txBody>
          <a:bodyPr wrap="none" lIns="0" tIns="0" rIns="0" bIns="0" rtlCol="0" anchor="t"/>
          <a:lstStyle/>
          <a:p>
            <a:pPr marL="0" indent="0" algn="l">
              <a:lnSpc>
                <a:spcPts val="2750"/>
              </a:lnSpc>
              <a:buNone/>
            </a:pPr>
            <a:r>
              <a:rPr lang="en-US" dirty="0">
                <a:solidFill>
                  <a:schemeClr val="tx1">
                    <a:lumMod val="95000"/>
                    <a:lumOff val="5000"/>
                  </a:schemeClr>
                </a:solidFill>
                <a:latin typeface="Times New Roman" panose="02020603050405020304" pitchFamily="18" charset="0"/>
                <a:ea typeface="Alexandria" pitchFamily="34" charset="-122"/>
                <a:cs typeface="Times New Roman" panose="02020603050405020304" pitchFamily="18" charset="0"/>
              </a:rPr>
              <a:t>Low-Resource Support</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Shape 4"/>
          <p:cNvSpPr/>
          <p:nvPr/>
        </p:nvSpPr>
        <p:spPr>
          <a:xfrm>
            <a:off x="4918115" y="3196590"/>
            <a:ext cx="8861822" cy="15240"/>
          </a:xfrm>
          <a:prstGeom prst="roundRect">
            <a:avLst>
              <a:gd name="adj" fmla="val 625116"/>
            </a:avLst>
          </a:prstGeom>
          <a:solidFill>
            <a:srgbClr val="B8C3DF"/>
          </a:solidFill>
          <a:ln/>
        </p:spPr>
      </p:sp>
      <p:pic>
        <p:nvPicPr>
          <p:cNvPr id="8" name="Image 1" descr="preencoded.png"/>
          <p:cNvPicPr>
            <a:picLocks noChangeAspect="1"/>
          </p:cNvPicPr>
          <p:nvPr/>
        </p:nvPicPr>
        <p:blipFill>
          <a:blip r:embed="rId4"/>
          <a:stretch>
            <a:fillRect/>
          </a:stretch>
        </p:blipFill>
        <p:spPr>
          <a:xfrm>
            <a:off x="2440424" y="3240167"/>
            <a:ext cx="3228022" cy="807958"/>
          </a:xfrm>
          <a:prstGeom prst="rect">
            <a:avLst/>
          </a:prstGeom>
        </p:spPr>
      </p:pic>
      <p:sp>
        <p:nvSpPr>
          <p:cNvPr id="9" name="Text 5"/>
          <p:cNvSpPr/>
          <p:nvPr/>
        </p:nvSpPr>
        <p:spPr>
          <a:xfrm>
            <a:off x="3894892" y="3444835"/>
            <a:ext cx="318968" cy="398621"/>
          </a:xfrm>
          <a:prstGeom prst="rect">
            <a:avLst/>
          </a:prstGeom>
          <a:noFill/>
          <a:ln/>
        </p:spPr>
        <p:txBody>
          <a:bodyPr wrap="none" lIns="0" tIns="0" rIns="0" bIns="0" rtlCol="0" anchor="t"/>
          <a:lstStyle/>
          <a:p>
            <a:pPr marL="0" indent="0" algn="ctr">
              <a:lnSpc>
                <a:spcPts val="4000"/>
              </a:lnSpc>
              <a:buNone/>
            </a:pPr>
            <a:r>
              <a:rPr lang="en-US" dirty="0">
                <a:solidFill>
                  <a:schemeClr val="tx1">
                    <a:lumMod val="95000"/>
                    <a:lumOff val="5000"/>
                  </a:schemeClr>
                </a:solidFill>
                <a:latin typeface="Times New Roman" panose="02020603050405020304" pitchFamily="18" charset="0"/>
                <a:ea typeface="Alexandria" pitchFamily="34" charset="-122"/>
                <a:cs typeface="Times New Roman" panose="02020603050405020304" pitchFamily="18" charset="0"/>
              </a:rPr>
              <a:t>2</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0" name="Text 6"/>
          <p:cNvSpPr/>
          <p:nvPr/>
        </p:nvSpPr>
        <p:spPr>
          <a:xfrm>
            <a:off x="5895261" y="3466981"/>
            <a:ext cx="2896076" cy="354330"/>
          </a:xfrm>
          <a:prstGeom prst="rect">
            <a:avLst/>
          </a:prstGeom>
          <a:noFill/>
          <a:ln/>
        </p:spPr>
        <p:txBody>
          <a:bodyPr wrap="none" lIns="0" tIns="0" rIns="0" bIns="0" rtlCol="0" anchor="t"/>
          <a:lstStyle/>
          <a:p>
            <a:pPr marL="0" indent="0" algn="l">
              <a:lnSpc>
                <a:spcPts val="2750"/>
              </a:lnSpc>
              <a:buNone/>
            </a:pPr>
            <a:r>
              <a:rPr lang="en-US" dirty="0">
                <a:solidFill>
                  <a:schemeClr val="tx1">
                    <a:lumMod val="95000"/>
                    <a:lumOff val="5000"/>
                  </a:schemeClr>
                </a:solidFill>
                <a:latin typeface="Times New Roman" panose="02020603050405020304" pitchFamily="18" charset="0"/>
                <a:ea typeface="Alexandria" pitchFamily="34" charset="-122"/>
                <a:cs typeface="Times New Roman" panose="02020603050405020304" pitchFamily="18" charset="0"/>
              </a:rPr>
              <a:t>Contextual Accuracy</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1" name="Shape 7"/>
          <p:cNvSpPr/>
          <p:nvPr/>
        </p:nvSpPr>
        <p:spPr>
          <a:xfrm>
            <a:off x="5725120" y="4061222"/>
            <a:ext cx="8054816" cy="15240"/>
          </a:xfrm>
          <a:prstGeom prst="roundRect">
            <a:avLst>
              <a:gd name="adj" fmla="val 625116"/>
            </a:avLst>
          </a:prstGeom>
          <a:solidFill>
            <a:srgbClr val="B8C3DF"/>
          </a:solidFill>
          <a:ln/>
        </p:spPr>
      </p:sp>
      <p:pic>
        <p:nvPicPr>
          <p:cNvPr id="12" name="Image 2" descr="preencoded.png"/>
          <p:cNvPicPr>
            <a:picLocks noChangeAspect="1"/>
          </p:cNvPicPr>
          <p:nvPr/>
        </p:nvPicPr>
        <p:blipFill>
          <a:blip r:embed="rId5"/>
          <a:stretch>
            <a:fillRect/>
          </a:stretch>
        </p:blipFill>
        <p:spPr>
          <a:xfrm>
            <a:off x="1633418" y="4104799"/>
            <a:ext cx="4842034" cy="807958"/>
          </a:xfrm>
          <a:prstGeom prst="rect">
            <a:avLst/>
          </a:prstGeom>
        </p:spPr>
      </p:pic>
      <p:sp>
        <p:nvSpPr>
          <p:cNvPr id="13" name="Text 8"/>
          <p:cNvSpPr/>
          <p:nvPr/>
        </p:nvSpPr>
        <p:spPr>
          <a:xfrm>
            <a:off x="3894892" y="4309467"/>
            <a:ext cx="318968" cy="398621"/>
          </a:xfrm>
          <a:prstGeom prst="rect">
            <a:avLst/>
          </a:prstGeom>
          <a:noFill/>
          <a:ln/>
        </p:spPr>
        <p:txBody>
          <a:bodyPr wrap="none" lIns="0" tIns="0" rIns="0" bIns="0" rtlCol="0" anchor="t"/>
          <a:lstStyle/>
          <a:p>
            <a:pPr marL="0" indent="0" algn="ctr">
              <a:lnSpc>
                <a:spcPts val="4000"/>
              </a:lnSpc>
              <a:buNone/>
            </a:pPr>
            <a:r>
              <a:rPr lang="en-US" dirty="0">
                <a:solidFill>
                  <a:schemeClr val="tx1">
                    <a:lumMod val="95000"/>
                    <a:lumOff val="5000"/>
                  </a:schemeClr>
                </a:solidFill>
                <a:latin typeface="Times New Roman" panose="02020603050405020304" pitchFamily="18" charset="0"/>
                <a:ea typeface="Alexandria" pitchFamily="34" charset="-122"/>
                <a:cs typeface="Times New Roman" panose="02020603050405020304" pitchFamily="18" charset="0"/>
              </a:rPr>
              <a:t>3</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Text 9"/>
          <p:cNvSpPr/>
          <p:nvPr/>
        </p:nvSpPr>
        <p:spPr>
          <a:xfrm>
            <a:off x="6702266" y="4331613"/>
            <a:ext cx="3581281" cy="354330"/>
          </a:xfrm>
          <a:prstGeom prst="rect">
            <a:avLst/>
          </a:prstGeom>
          <a:noFill/>
          <a:ln/>
        </p:spPr>
        <p:txBody>
          <a:bodyPr wrap="none" lIns="0" tIns="0" rIns="0" bIns="0" rtlCol="0" anchor="t"/>
          <a:lstStyle/>
          <a:p>
            <a:pPr marL="0" indent="0" algn="l">
              <a:lnSpc>
                <a:spcPts val="2750"/>
              </a:lnSpc>
              <a:buNone/>
            </a:pPr>
            <a:r>
              <a:rPr lang="en-US" dirty="0">
                <a:solidFill>
                  <a:schemeClr val="tx1">
                    <a:lumMod val="95000"/>
                    <a:lumOff val="5000"/>
                  </a:schemeClr>
                </a:solidFill>
                <a:latin typeface="Times New Roman" panose="02020603050405020304" pitchFamily="18" charset="0"/>
                <a:ea typeface="Alexandria" pitchFamily="34" charset="-122"/>
                <a:cs typeface="Times New Roman" panose="02020603050405020304" pitchFamily="18" charset="0"/>
              </a:rPr>
              <a:t>Community Participation</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5" name="Shape 10"/>
          <p:cNvSpPr/>
          <p:nvPr/>
        </p:nvSpPr>
        <p:spPr>
          <a:xfrm>
            <a:off x="6532126" y="4925854"/>
            <a:ext cx="7247811" cy="15240"/>
          </a:xfrm>
          <a:prstGeom prst="roundRect">
            <a:avLst>
              <a:gd name="adj" fmla="val 625116"/>
            </a:avLst>
          </a:prstGeom>
          <a:solidFill>
            <a:srgbClr val="B8C3DF"/>
          </a:solidFill>
          <a:ln/>
        </p:spPr>
      </p:sp>
      <p:pic>
        <p:nvPicPr>
          <p:cNvPr id="16" name="Image 3" descr="preencoded.png"/>
          <p:cNvPicPr>
            <a:picLocks noChangeAspect="1"/>
          </p:cNvPicPr>
          <p:nvPr/>
        </p:nvPicPr>
        <p:blipFill>
          <a:blip r:embed="rId6"/>
          <a:stretch>
            <a:fillRect/>
          </a:stretch>
        </p:blipFill>
        <p:spPr>
          <a:xfrm>
            <a:off x="826294" y="4969431"/>
            <a:ext cx="6456164" cy="807958"/>
          </a:xfrm>
          <a:prstGeom prst="rect">
            <a:avLst/>
          </a:prstGeom>
        </p:spPr>
      </p:pic>
      <p:sp>
        <p:nvSpPr>
          <p:cNvPr id="17" name="Text 11"/>
          <p:cNvSpPr/>
          <p:nvPr/>
        </p:nvSpPr>
        <p:spPr>
          <a:xfrm>
            <a:off x="3894773" y="5174099"/>
            <a:ext cx="318968" cy="398621"/>
          </a:xfrm>
          <a:prstGeom prst="rect">
            <a:avLst/>
          </a:prstGeom>
          <a:noFill/>
          <a:ln/>
        </p:spPr>
        <p:txBody>
          <a:bodyPr wrap="none" lIns="0" tIns="0" rIns="0" bIns="0" rtlCol="0" anchor="t"/>
          <a:lstStyle/>
          <a:p>
            <a:pPr marL="0" indent="0" algn="ctr">
              <a:lnSpc>
                <a:spcPts val="4000"/>
              </a:lnSpc>
              <a:buNone/>
            </a:pPr>
            <a:r>
              <a:rPr lang="en-US" dirty="0">
                <a:solidFill>
                  <a:schemeClr val="tx1">
                    <a:lumMod val="95000"/>
                    <a:lumOff val="5000"/>
                  </a:schemeClr>
                </a:solidFill>
                <a:latin typeface="Times New Roman" panose="02020603050405020304" pitchFamily="18" charset="0"/>
                <a:ea typeface="Alexandria" pitchFamily="34" charset="-122"/>
                <a:cs typeface="Times New Roman" panose="02020603050405020304" pitchFamily="18" charset="0"/>
              </a:rPr>
              <a:t>4</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8" name="Text 12"/>
          <p:cNvSpPr/>
          <p:nvPr/>
        </p:nvSpPr>
        <p:spPr>
          <a:xfrm>
            <a:off x="7509272" y="5196245"/>
            <a:ext cx="2913697" cy="354330"/>
          </a:xfrm>
          <a:prstGeom prst="rect">
            <a:avLst/>
          </a:prstGeom>
          <a:noFill/>
          <a:ln/>
        </p:spPr>
        <p:txBody>
          <a:bodyPr wrap="none" lIns="0" tIns="0" rIns="0" bIns="0" rtlCol="0" anchor="t"/>
          <a:lstStyle/>
          <a:p>
            <a:pPr marL="0" indent="0" algn="l">
              <a:lnSpc>
                <a:spcPts val="2750"/>
              </a:lnSpc>
              <a:buNone/>
            </a:pPr>
            <a:r>
              <a:rPr lang="en-US" dirty="0">
                <a:solidFill>
                  <a:schemeClr val="tx1">
                    <a:lumMod val="95000"/>
                    <a:lumOff val="5000"/>
                  </a:schemeClr>
                </a:solidFill>
                <a:latin typeface="Times New Roman" panose="02020603050405020304" pitchFamily="18" charset="0"/>
                <a:ea typeface="Alexandria" pitchFamily="34" charset="-122"/>
                <a:cs typeface="Times New Roman" panose="02020603050405020304" pitchFamily="18" charset="0"/>
              </a:rPr>
              <a:t>Dialectal Adaptation</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9" name="Text 13"/>
          <p:cNvSpPr/>
          <p:nvPr/>
        </p:nvSpPr>
        <p:spPr>
          <a:xfrm>
            <a:off x="1001655" y="6032540"/>
            <a:ext cx="11833400" cy="1451610"/>
          </a:xfrm>
          <a:prstGeom prst="rect">
            <a:avLst/>
          </a:prstGeom>
          <a:noFill/>
          <a:ln/>
        </p:spPr>
        <p:txBody>
          <a:bodyPr wrap="square" lIns="0" tIns="0" rIns="0" bIns="0" rtlCol="0" anchor="t"/>
          <a:lstStyle/>
          <a:p>
            <a:pPr marL="0" indent="0" algn="just">
              <a:lnSpc>
                <a:spcPts val="2850"/>
              </a:lnSpc>
              <a:buNone/>
            </a:pPr>
            <a:r>
              <a:rPr lang="en-US"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Existing research and commercial systems exhibit significant limitations in supporting </a:t>
            </a:r>
            <a:r>
              <a:rPr lang="en-US" b="1"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low-resource and tribal languages</a:t>
            </a:r>
            <a:r>
              <a:rPr lang="en-US"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 Key challenges include inadequate accuracy, a pervasive lack of cultural context, minimal community involvement in dataset creation, and limited adaptability to diverse dialects or unique speech formats prevalent in these communities. These gaps hinder effective communication and digital inclusion.</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20AE7257-ACA6-79D5-C714-6EE6B4BEC163}"/>
              </a:ext>
            </a:extLst>
          </p:cNvPr>
          <p:cNvPicPr>
            <a:picLocks noChangeAspect="1"/>
          </p:cNvPicPr>
          <p:nvPr/>
        </p:nvPicPr>
        <p:blipFill>
          <a:blip r:embed="rId7"/>
          <a:stretch>
            <a:fillRect/>
          </a:stretch>
        </p:blipFill>
        <p:spPr>
          <a:xfrm>
            <a:off x="12334555" y="7680721"/>
            <a:ext cx="2295845" cy="533639"/>
          </a:xfrm>
          <a:prstGeom prst="rect">
            <a:avLst/>
          </a:prstGeom>
        </p:spPr>
      </p:pic>
      <p:pic>
        <p:nvPicPr>
          <p:cNvPr id="21" name="Picture 20">
            <a:extLst>
              <a:ext uri="{FF2B5EF4-FFF2-40B4-BE49-F238E27FC236}">
                <a16:creationId xmlns:a16="http://schemas.microsoft.com/office/drawing/2014/main" id="{102252B2-C509-F96A-F54D-969C5D871200}"/>
              </a:ext>
            </a:extLst>
          </p:cNvPr>
          <p:cNvPicPr>
            <a:picLocks noChangeAspect="1"/>
          </p:cNvPicPr>
          <p:nvPr/>
        </p:nvPicPr>
        <p:blipFill>
          <a:blip r:embed="rId8"/>
          <a:stretch>
            <a:fillRect/>
          </a:stretch>
        </p:blipFill>
        <p:spPr>
          <a:xfrm>
            <a:off x="839516" y="208693"/>
            <a:ext cx="9230035" cy="143994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901303"/>
            <a:ext cx="2835235" cy="354330"/>
          </a:xfrm>
          <a:prstGeom prst="rect">
            <a:avLst/>
          </a:prstGeom>
          <a:noFill/>
          <a:ln/>
        </p:spPr>
        <p:txBody>
          <a:bodyPr wrap="none" lIns="0" tIns="0" rIns="0" bIns="0" rtlCol="0" anchor="t"/>
          <a:lstStyle/>
          <a:p>
            <a:pPr marL="0" indent="0" algn="l">
              <a:lnSpc>
                <a:spcPts val="2750"/>
              </a:lnSpc>
              <a:buNone/>
            </a:pP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4" name="Text 1"/>
          <p:cNvSpPr/>
          <p:nvPr/>
        </p:nvSpPr>
        <p:spPr>
          <a:xfrm>
            <a:off x="6280190" y="1669046"/>
            <a:ext cx="5670590" cy="708779"/>
          </a:xfrm>
          <a:prstGeom prst="rect">
            <a:avLst/>
          </a:prstGeom>
          <a:noFill/>
          <a:ln/>
        </p:spPr>
        <p:txBody>
          <a:bodyPr wrap="none" lIns="0" tIns="0" rIns="0" bIns="0" rtlCol="0" anchor="t"/>
          <a:lstStyle/>
          <a:p>
            <a:pPr marL="0" indent="0" algn="l">
              <a:lnSpc>
                <a:spcPts val="5550"/>
              </a:lnSpc>
              <a:buNone/>
            </a:pPr>
            <a:r>
              <a:rPr lang="en-US" sz="3200" b="1" dirty="0">
                <a:solidFill>
                  <a:schemeClr val="tx1">
                    <a:lumMod val="95000"/>
                    <a:lumOff val="5000"/>
                  </a:schemeClr>
                </a:solidFill>
                <a:latin typeface="Times New Roman" panose="02020603050405020304" pitchFamily="18" charset="0"/>
                <a:ea typeface="Alexandria" pitchFamily="34" charset="-122"/>
                <a:cs typeface="Times New Roman" panose="02020603050405020304" pitchFamily="18" charset="0"/>
              </a:rPr>
              <a:t>PROPOSED APPROACH</a:t>
            </a:r>
            <a:endParaRPr lang="en-US" sz="32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5" name="Text 2"/>
          <p:cNvSpPr/>
          <p:nvPr/>
        </p:nvSpPr>
        <p:spPr>
          <a:xfrm>
            <a:off x="6280190" y="2735461"/>
            <a:ext cx="3501509" cy="1451610"/>
          </a:xfrm>
          <a:prstGeom prst="rect">
            <a:avLst/>
          </a:prstGeom>
          <a:noFill/>
          <a:ln/>
        </p:spPr>
        <p:txBody>
          <a:bodyPr wrap="square" lIns="0" tIns="0" rIns="0" bIns="0" rtlCol="0" anchor="t"/>
          <a:lstStyle/>
          <a:p>
            <a:pPr marL="342900" indent="-342900" algn="l">
              <a:lnSpc>
                <a:spcPts val="2850"/>
              </a:lnSpc>
              <a:buSzPct val="100000"/>
              <a:buChar char="•"/>
            </a:pPr>
            <a:r>
              <a:rPr lang="en-US" b="1"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AI-Based Speech Recognition</a:t>
            </a:r>
            <a:r>
              <a:rPr lang="en-US"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 Tailored algorithms for nuanced local languages.</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6" name="Text 3"/>
          <p:cNvSpPr/>
          <p:nvPr/>
        </p:nvSpPr>
        <p:spPr>
          <a:xfrm>
            <a:off x="6280190" y="4266367"/>
            <a:ext cx="3501509" cy="1451610"/>
          </a:xfrm>
          <a:prstGeom prst="rect">
            <a:avLst/>
          </a:prstGeom>
          <a:noFill/>
          <a:ln/>
        </p:spPr>
        <p:txBody>
          <a:bodyPr wrap="square" lIns="0" tIns="0" rIns="0" bIns="0" rtlCol="0" anchor="t"/>
          <a:lstStyle/>
          <a:p>
            <a:pPr marL="342900" indent="-342900" algn="l">
              <a:lnSpc>
                <a:spcPts val="2850"/>
              </a:lnSpc>
              <a:buSzPct val="100000"/>
              <a:buChar char="•"/>
            </a:pPr>
            <a:r>
              <a:rPr lang="en-US" b="1"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Community-Driven Validation</a:t>
            </a:r>
            <a:r>
              <a:rPr lang="en-US"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 Native speakers validate and improve datasets.</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ext 4"/>
          <p:cNvSpPr/>
          <p:nvPr/>
        </p:nvSpPr>
        <p:spPr>
          <a:xfrm>
            <a:off x="6280190" y="5797272"/>
            <a:ext cx="3501509" cy="1088708"/>
          </a:xfrm>
          <a:prstGeom prst="rect">
            <a:avLst/>
          </a:prstGeom>
          <a:noFill/>
          <a:ln/>
        </p:spPr>
        <p:txBody>
          <a:bodyPr wrap="square" lIns="0" tIns="0" rIns="0" bIns="0" rtlCol="0" anchor="t"/>
          <a:lstStyle/>
          <a:p>
            <a:pPr marL="342900" indent="-342900" algn="l">
              <a:lnSpc>
                <a:spcPts val="2850"/>
              </a:lnSpc>
              <a:buSzPct val="100000"/>
              <a:buChar char="•"/>
            </a:pPr>
            <a:r>
              <a:rPr lang="en-US" b="1"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Real-Time Web Translation</a:t>
            </a:r>
            <a:r>
              <a:rPr lang="en-US"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 Instantaneous audio-to-text conversion.</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8" name="Text 5"/>
          <p:cNvSpPr/>
          <p:nvPr/>
        </p:nvSpPr>
        <p:spPr>
          <a:xfrm>
            <a:off x="10342721" y="2735461"/>
            <a:ext cx="3501509" cy="1451610"/>
          </a:xfrm>
          <a:prstGeom prst="rect">
            <a:avLst/>
          </a:prstGeom>
          <a:noFill/>
          <a:ln/>
        </p:spPr>
        <p:txBody>
          <a:bodyPr wrap="square" lIns="0" tIns="0" rIns="0" bIns="0" rtlCol="0" anchor="t"/>
          <a:lstStyle/>
          <a:p>
            <a:pPr marL="342900" indent="-342900" algn="l">
              <a:lnSpc>
                <a:spcPts val="2850"/>
              </a:lnSpc>
              <a:buSzPct val="100000"/>
              <a:buChar char="•"/>
            </a:pPr>
            <a:r>
              <a:rPr lang="en-US" b="1"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Cultural Context Engine</a:t>
            </a:r>
            <a:r>
              <a:rPr lang="en-US"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 Preserving intended meaning beyond literal translation.</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9" name="Text 6"/>
          <p:cNvSpPr/>
          <p:nvPr/>
        </p:nvSpPr>
        <p:spPr>
          <a:xfrm>
            <a:off x="10342721" y="4266367"/>
            <a:ext cx="3501509" cy="1451610"/>
          </a:xfrm>
          <a:prstGeom prst="rect">
            <a:avLst/>
          </a:prstGeom>
          <a:noFill/>
          <a:ln/>
        </p:spPr>
        <p:txBody>
          <a:bodyPr wrap="square" lIns="0" tIns="0" rIns="0" bIns="0" rtlCol="0" anchor="t"/>
          <a:lstStyle/>
          <a:p>
            <a:pPr marL="342900" indent="-342900" algn="l">
              <a:lnSpc>
                <a:spcPts val="2850"/>
              </a:lnSpc>
              <a:buSzPct val="100000"/>
              <a:buChar char="•"/>
            </a:pPr>
            <a:r>
              <a:rPr lang="en-US" b="1"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Continuous Refinement</a:t>
            </a:r>
            <a:r>
              <a:rPr lang="en-US"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 Iterative improvement via user feedback and confidence scoring.</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0" name="Text 7"/>
          <p:cNvSpPr/>
          <p:nvPr/>
        </p:nvSpPr>
        <p:spPr>
          <a:xfrm>
            <a:off x="10342721" y="5797272"/>
            <a:ext cx="3501509" cy="1451610"/>
          </a:xfrm>
          <a:prstGeom prst="rect">
            <a:avLst/>
          </a:prstGeom>
          <a:noFill/>
          <a:ln/>
        </p:spPr>
        <p:txBody>
          <a:bodyPr wrap="square" lIns="0" tIns="0" rIns="0" bIns="0" rtlCol="0" anchor="t"/>
          <a:lstStyle/>
          <a:p>
            <a:pPr marL="342900" indent="-342900" algn="l">
              <a:lnSpc>
                <a:spcPts val="2850"/>
              </a:lnSpc>
              <a:buSzPct val="100000"/>
              <a:buChar char="•"/>
            </a:pPr>
            <a:r>
              <a:rPr lang="en-US" b="1"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Scalable Infrastructure</a:t>
            </a:r>
            <a:r>
              <a:rPr lang="en-US"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 Designed for expansion across more languages and dialects.</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E2C7DF84-79F3-4DD5-1F58-93A4F4E23C84}"/>
              </a:ext>
            </a:extLst>
          </p:cNvPr>
          <p:cNvPicPr>
            <a:picLocks noChangeAspect="1"/>
          </p:cNvPicPr>
          <p:nvPr/>
        </p:nvPicPr>
        <p:blipFill>
          <a:blip r:embed="rId4"/>
          <a:stretch>
            <a:fillRect/>
          </a:stretch>
        </p:blipFill>
        <p:spPr>
          <a:xfrm>
            <a:off x="12334555" y="7680721"/>
            <a:ext cx="2295845" cy="548879"/>
          </a:xfrm>
          <a:prstGeom prst="rect">
            <a:avLst/>
          </a:prstGeom>
        </p:spPr>
      </p:pic>
      <p:pic>
        <p:nvPicPr>
          <p:cNvPr id="12" name="Picture 11">
            <a:extLst>
              <a:ext uri="{FF2B5EF4-FFF2-40B4-BE49-F238E27FC236}">
                <a16:creationId xmlns:a16="http://schemas.microsoft.com/office/drawing/2014/main" id="{43BB708D-721E-2C92-D636-82D20FFF3EE6}"/>
              </a:ext>
            </a:extLst>
          </p:cNvPr>
          <p:cNvPicPr>
            <a:picLocks noChangeAspect="1"/>
          </p:cNvPicPr>
          <p:nvPr/>
        </p:nvPicPr>
        <p:blipFill>
          <a:blip r:embed="rId5"/>
          <a:stretch>
            <a:fillRect/>
          </a:stretch>
        </p:blipFill>
        <p:spPr>
          <a:xfrm>
            <a:off x="839516" y="208693"/>
            <a:ext cx="9230035" cy="143994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707156-171E-1C73-B4CA-EA04D7ADF258}"/>
              </a:ext>
            </a:extLst>
          </p:cNvPr>
          <p:cNvPicPr>
            <a:picLocks noChangeAspect="1"/>
          </p:cNvPicPr>
          <p:nvPr/>
        </p:nvPicPr>
        <p:blipFill>
          <a:blip r:embed="rId2"/>
          <a:stretch>
            <a:fillRect/>
          </a:stretch>
        </p:blipFill>
        <p:spPr>
          <a:xfrm>
            <a:off x="839516" y="1741243"/>
            <a:ext cx="12584279" cy="5552484"/>
          </a:xfrm>
          <a:prstGeom prst="rect">
            <a:avLst/>
          </a:prstGeom>
        </p:spPr>
      </p:pic>
      <p:pic>
        <p:nvPicPr>
          <p:cNvPr id="4" name="Picture 3">
            <a:extLst>
              <a:ext uri="{FF2B5EF4-FFF2-40B4-BE49-F238E27FC236}">
                <a16:creationId xmlns:a16="http://schemas.microsoft.com/office/drawing/2014/main" id="{E105DF08-EC11-0701-F8E3-E8497125F442}"/>
              </a:ext>
            </a:extLst>
          </p:cNvPr>
          <p:cNvPicPr>
            <a:picLocks noChangeAspect="1"/>
          </p:cNvPicPr>
          <p:nvPr/>
        </p:nvPicPr>
        <p:blipFill>
          <a:blip r:embed="rId3"/>
          <a:stretch>
            <a:fillRect/>
          </a:stretch>
        </p:blipFill>
        <p:spPr>
          <a:xfrm>
            <a:off x="839516" y="208693"/>
            <a:ext cx="9230035" cy="1439944"/>
          </a:xfrm>
          <a:prstGeom prst="rect">
            <a:avLst/>
          </a:prstGeom>
        </p:spPr>
      </p:pic>
      <p:pic>
        <p:nvPicPr>
          <p:cNvPr id="5" name="Picture 4">
            <a:extLst>
              <a:ext uri="{FF2B5EF4-FFF2-40B4-BE49-F238E27FC236}">
                <a16:creationId xmlns:a16="http://schemas.microsoft.com/office/drawing/2014/main" id="{00004C9E-C6C5-E1B0-F57E-6774F1D193E2}"/>
              </a:ext>
            </a:extLst>
          </p:cNvPr>
          <p:cNvPicPr>
            <a:picLocks noChangeAspect="1"/>
          </p:cNvPicPr>
          <p:nvPr/>
        </p:nvPicPr>
        <p:blipFill>
          <a:blip r:embed="rId4"/>
          <a:stretch>
            <a:fillRect/>
          </a:stretch>
        </p:blipFill>
        <p:spPr>
          <a:xfrm>
            <a:off x="12334555" y="7680721"/>
            <a:ext cx="2295845" cy="548879"/>
          </a:xfrm>
          <a:prstGeom prst="rect">
            <a:avLst/>
          </a:prstGeom>
        </p:spPr>
      </p:pic>
    </p:spTree>
    <p:extLst>
      <p:ext uri="{BB962C8B-B14F-4D97-AF65-F5344CB8AC3E}">
        <p14:creationId xmlns:p14="http://schemas.microsoft.com/office/powerpoint/2010/main" val="3737082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768072"/>
            <a:ext cx="2835235" cy="354330"/>
          </a:xfrm>
          <a:prstGeom prst="rect">
            <a:avLst/>
          </a:prstGeom>
          <a:noFill/>
          <a:ln/>
        </p:spPr>
        <p:txBody>
          <a:bodyPr wrap="none" lIns="0" tIns="0" rIns="0" bIns="0" rtlCol="0" anchor="t"/>
          <a:lstStyle/>
          <a:p>
            <a:pPr marL="0" indent="0" algn="l">
              <a:lnSpc>
                <a:spcPts val="2750"/>
              </a:lnSpc>
              <a:buNone/>
            </a:pP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927545" y="1636840"/>
            <a:ext cx="5670590" cy="708779"/>
          </a:xfrm>
          <a:prstGeom prst="rect">
            <a:avLst/>
          </a:prstGeom>
          <a:noFill/>
          <a:ln/>
        </p:spPr>
        <p:txBody>
          <a:bodyPr wrap="none" lIns="0" tIns="0" rIns="0" bIns="0" rtlCol="0" anchor="t"/>
          <a:lstStyle/>
          <a:p>
            <a:pPr marL="0" indent="0" algn="l">
              <a:lnSpc>
                <a:spcPts val="5550"/>
              </a:lnSpc>
              <a:buNone/>
            </a:pPr>
            <a:r>
              <a:rPr lang="en-US" sz="3200" b="1" dirty="0">
                <a:solidFill>
                  <a:schemeClr val="tx1">
                    <a:lumMod val="95000"/>
                    <a:lumOff val="5000"/>
                  </a:schemeClr>
                </a:solidFill>
                <a:latin typeface="Times New Roman" panose="02020603050405020304" pitchFamily="18" charset="0"/>
                <a:ea typeface="Alexandria" pitchFamily="34" charset="-122"/>
                <a:cs typeface="Times New Roman" panose="02020603050405020304" pitchFamily="18" charset="0"/>
              </a:rPr>
              <a:t>CONCLUSION</a:t>
            </a:r>
            <a:endParaRPr lang="en-US" sz="32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793790" y="2398157"/>
            <a:ext cx="566976" cy="566976"/>
          </a:xfrm>
          <a:prstGeom prst="rect">
            <a:avLst/>
          </a:prstGeom>
        </p:spPr>
      </p:pic>
      <p:sp>
        <p:nvSpPr>
          <p:cNvPr id="5" name="Text 2"/>
          <p:cNvSpPr/>
          <p:nvPr/>
        </p:nvSpPr>
        <p:spPr>
          <a:xfrm>
            <a:off x="793790" y="3248620"/>
            <a:ext cx="2835235" cy="354330"/>
          </a:xfrm>
          <a:prstGeom prst="rect">
            <a:avLst/>
          </a:prstGeom>
          <a:noFill/>
          <a:ln/>
        </p:spPr>
        <p:txBody>
          <a:bodyPr wrap="none" lIns="0" tIns="0" rIns="0" bIns="0" rtlCol="0" anchor="t"/>
          <a:lstStyle/>
          <a:p>
            <a:pPr marL="0" indent="0" algn="l">
              <a:lnSpc>
                <a:spcPts val="2750"/>
              </a:lnSpc>
              <a:buNone/>
            </a:pPr>
            <a:r>
              <a:rPr lang="en-US" dirty="0">
                <a:solidFill>
                  <a:schemeClr val="tx1">
                    <a:lumMod val="95000"/>
                    <a:lumOff val="5000"/>
                  </a:schemeClr>
                </a:solidFill>
                <a:latin typeface="Times New Roman" panose="02020603050405020304" pitchFamily="18" charset="0"/>
                <a:ea typeface="Alexandria" pitchFamily="34" charset="-122"/>
                <a:cs typeface="Times New Roman" panose="02020603050405020304" pitchFamily="18" charset="0"/>
              </a:rPr>
              <a:t>Bridging the Divide</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6" name="Text 3"/>
          <p:cNvSpPr/>
          <p:nvPr/>
        </p:nvSpPr>
        <p:spPr>
          <a:xfrm>
            <a:off x="793790" y="3739039"/>
            <a:ext cx="6379607" cy="1088708"/>
          </a:xfrm>
          <a:prstGeom prst="rect">
            <a:avLst/>
          </a:prstGeom>
          <a:noFill/>
          <a:ln/>
        </p:spPr>
        <p:txBody>
          <a:bodyPr wrap="square" lIns="0" tIns="0" rIns="0" bIns="0" rtlCol="0" anchor="t"/>
          <a:lstStyle/>
          <a:p>
            <a:pPr marL="0" indent="0" algn="l">
              <a:lnSpc>
                <a:spcPts val="2850"/>
              </a:lnSpc>
              <a:buNone/>
            </a:pPr>
            <a:r>
              <a:rPr lang="en-US"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Successfully bridges the existing language-technology divide, connecting tribal and local communities to the digital world.</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7" name="Image 1" descr="preencoded.png"/>
          <p:cNvPicPr>
            <a:picLocks noChangeAspect="1"/>
          </p:cNvPicPr>
          <p:nvPr/>
        </p:nvPicPr>
        <p:blipFill>
          <a:blip r:embed="rId4"/>
          <a:stretch>
            <a:fillRect/>
          </a:stretch>
        </p:blipFill>
        <p:spPr>
          <a:xfrm>
            <a:off x="7456884" y="2398157"/>
            <a:ext cx="566976" cy="566976"/>
          </a:xfrm>
          <a:prstGeom prst="rect">
            <a:avLst/>
          </a:prstGeom>
        </p:spPr>
      </p:pic>
      <p:sp>
        <p:nvSpPr>
          <p:cNvPr id="8" name="Text 4"/>
          <p:cNvSpPr/>
          <p:nvPr/>
        </p:nvSpPr>
        <p:spPr>
          <a:xfrm>
            <a:off x="7456884" y="3248620"/>
            <a:ext cx="4255651" cy="354330"/>
          </a:xfrm>
          <a:prstGeom prst="rect">
            <a:avLst/>
          </a:prstGeom>
          <a:noFill/>
          <a:ln/>
        </p:spPr>
        <p:txBody>
          <a:bodyPr wrap="none" lIns="0" tIns="0" rIns="0" bIns="0" rtlCol="0" anchor="t"/>
          <a:lstStyle/>
          <a:p>
            <a:pPr marL="0" indent="0" algn="l">
              <a:lnSpc>
                <a:spcPts val="2750"/>
              </a:lnSpc>
              <a:buNone/>
            </a:pPr>
            <a:r>
              <a:rPr lang="en-US" dirty="0">
                <a:solidFill>
                  <a:schemeClr val="tx1">
                    <a:lumMod val="95000"/>
                    <a:lumOff val="5000"/>
                  </a:schemeClr>
                </a:solidFill>
                <a:latin typeface="Times New Roman" panose="02020603050405020304" pitchFamily="18" charset="0"/>
                <a:ea typeface="Alexandria" pitchFamily="34" charset="-122"/>
                <a:cs typeface="Times New Roman" panose="02020603050405020304" pitchFamily="18" charset="0"/>
              </a:rPr>
              <a:t>Accurate &amp; Culturally Relevant</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9" name="Text 5"/>
          <p:cNvSpPr/>
          <p:nvPr/>
        </p:nvSpPr>
        <p:spPr>
          <a:xfrm>
            <a:off x="7456884" y="3739039"/>
            <a:ext cx="6379726" cy="1088708"/>
          </a:xfrm>
          <a:prstGeom prst="rect">
            <a:avLst/>
          </a:prstGeom>
          <a:noFill/>
          <a:ln/>
        </p:spPr>
        <p:txBody>
          <a:bodyPr wrap="square" lIns="0" tIns="0" rIns="0" bIns="0" rtlCol="0" anchor="t"/>
          <a:lstStyle/>
          <a:p>
            <a:pPr marL="0" indent="0" algn="l">
              <a:lnSpc>
                <a:spcPts val="2850"/>
              </a:lnSpc>
              <a:buNone/>
            </a:pPr>
            <a:r>
              <a:rPr lang="en-US"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Delivers highly accurate and culturally appropriate translations, ensuring meaningful and respectful communication.</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10" name="Image 2" descr="preencoded.png"/>
          <p:cNvPicPr>
            <a:picLocks noChangeAspect="1"/>
          </p:cNvPicPr>
          <p:nvPr/>
        </p:nvPicPr>
        <p:blipFill>
          <a:blip r:embed="rId5"/>
          <a:stretch>
            <a:fillRect/>
          </a:stretch>
        </p:blipFill>
        <p:spPr>
          <a:xfrm>
            <a:off x="793790" y="5394722"/>
            <a:ext cx="566976" cy="566976"/>
          </a:xfrm>
          <a:prstGeom prst="rect">
            <a:avLst/>
          </a:prstGeom>
        </p:spPr>
      </p:pic>
      <p:sp>
        <p:nvSpPr>
          <p:cNvPr id="11" name="Text 6"/>
          <p:cNvSpPr/>
          <p:nvPr/>
        </p:nvSpPr>
        <p:spPr>
          <a:xfrm>
            <a:off x="793790" y="6245185"/>
            <a:ext cx="3877627" cy="354330"/>
          </a:xfrm>
          <a:prstGeom prst="rect">
            <a:avLst/>
          </a:prstGeom>
          <a:noFill/>
          <a:ln/>
        </p:spPr>
        <p:txBody>
          <a:bodyPr wrap="none" lIns="0" tIns="0" rIns="0" bIns="0" rtlCol="0" anchor="t"/>
          <a:lstStyle/>
          <a:p>
            <a:pPr marL="0" indent="0" algn="l">
              <a:lnSpc>
                <a:spcPts val="2750"/>
              </a:lnSpc>
              <a:buNone/>
            </a:pPr>
            <a:r>
              <a:rPr lang="en-US" dirty="0">
                <a:solidFill>
                  <a:schemeClr val="tx1">
                    <a:lumMod val="95000"/>
                    <a:lumOff val="5000"/>
                  </a:schemeClr>
                </a:solidFill>
                <a:latin typeface="Times New Roman" panose="02020603050405020304" pitchFamily="18" charset="0"/>
                <a:ea typeface="Alexandria" pitchFamily="34" charset="-122"/>
                <a:cs typeface="Times New Roman" panose="02020603050405020304" pitchFamily="18" charset="0"/>
              </a:rPr>
              <a:t>Promoting Digital Inclusion</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2" name="Text 7"/>
          <p:cNvSpPr/>
          <p:nvPr/>
        </p:nvSpPr>
        <p:spPr>
          <a:xfrm>
            <a:off x="793790" y="6735604"/>
            <a:ext cx="6379607" cy="725805"/>
          </a:xfrm>
          <a:prstGeom prst="rect">
            <a:avLst/>
          </a:prstGeom>
          <a:noFill/>
          <a:ln/>
        </p:spPr>
        <p:txBody>
          <a:bodyPr wrap="square" lIns="0" tIns="0" rIns="0" bIns="0" rtlCol="0" anchor="t"/>
          <a:lstStyle/>
          <a:p>
            <a:pPr marL="0" indent="0" algn="l">
              <a:lnSpc>
                <a:spcPts val="2850"/>
              </a:lnSpc>
              <a:buNone/>
            </a:pPr>
            <a:r>
              <a:rPr lang="en-US"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Actively promotes digital inclusion and linguistic preservation, safeguarding unique cultural heritages.</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13" name="Image 3" descr="preencoded.png"/>
          <p:cNvPicPr>
            <a:picLocks noChangeAspect="1"/>
          </p:cNvPicPr>
          <p:nvPr/>
        </p:nvPicPr>
        <p:blipFill>
          <a:blip r:embed="rId6"/>
          <a:stretch>
            <a:fillRect/>
          </a:stretch>
        </p:blipFill>
        <p:spPr>
          <a:xfrm>
            <a:off x="7456884" y="5394722"/>
            <a:ext cx="566976" cy="566976"/>
          </a:xfrm>
          <a:prstGeom prst="rect">
            <a:avLst/>
          </a:prstGeom>
        </p:spPr>
      </p:pic>
      <p:sp>
        <p:nvSpPr>
          <p:cNvPr id="14" name="Text 8"/>
          <p:cNvSpPr/>
          <p:nvPr/>
        </p:nvSpPr>
        <p:spPr>
          <a:xfrm>
            <a:off x="7456884" y="6245185"/>
            <a:ext cx="2839641" cy="354330"/>
          </a:xfrm>
          <a:prstGeom prst="rect">
            <a:avLst/>
          </a:prstGeom>
          <a:noFill/>
          <a:ln/>
        </p:spPr>
        <p:txBody>
          <a:bodyPr wrap="none" lIns="0" tIns="0" rIns="0" bIns="0" rtlCol="0" anchor="t"/>
          <a:lstStyle/>
          <a:p>
            <a:pPr marL="0" indent="0" algn="l">
              <a:lnSpc>
                <a:spcPts val="2750"/>
              </a:lnSpc>
              <a:buNone/>
            </a:pPr>
            <a:r>
              <a:rPr lang="en-US" dirty="0">
                <a:solidFill>
                  <a:schemeClr val="tx1">
                    <a:lumMod val="95000"/>
                    <a:lumOff val="5000"/>
                  </a:schemeClr>
                </a:solidFill>
                <a:latin typeface="Times New Roman" panose="02020603050405020304" pitchFamily="18" charset="0"/>
                <a:ea typeface="Alexandria" pitchFamily="34" charset="-122"/>
                <a:cs typeface="Times New Roman" panose="02020603050405020304" pitchFamily="18" charset="0"/>
              </a:rPr>
              <a:t>User Empowerment</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5" name="Text 9"/>
          <p:cNvSpPr/>
          <p:nvPr/>
        </p:nvSpPr>
        <p:spPr>
          <a:xfrm>
            <a:off x="7456884" y="6735604"/>
            <a:ext cx="6379726" cy="725805"/>
          </a:xfrm>
          <a:prstGeom prst="rect">
            <a:avLst/>
          </a:prstGeom>
          <a:noFill/>
          <a:ln/>
        </p:spPr>
        <p:txBody>
          <a:bodyPr wrap="square" lIns="0" tIns="0" rIns="0" bIns="0" rtlCol="0" anchor="t"/>
          <a:lstStyle/>
          <a:p>
            <a:pPr marL="0" indent="0" algn="l">
              <a:lnSpc>
                <a:spcPts val="2850"/>
              </a:lnSpc>
              <a:buNone/>
            </a:pPr>
            <a:r>
              <a:rPr lang="en-US"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Empowers marginalized users by combining cutting-edge AI with invaluable community-driven insights and tools.</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42FC7140-A657-9767-C797-E3161220E212}"/>
              </a:ext>
            </a:extLst>
          </p:cNvPr>
          <p:cNvPicPr>
            <a:picLocks noChangeAspect="1"/>
          </p:cNvPicPr>
          <p:nvPr/>
        </p:nvPicPr>
        <p:blipFill>
          <a:blip r:embed="rId7"/>
          <a:stretch>
            <a:fillRect/>
          </a:stretch>
        </p:blipFill>
        <p:spPr>
          <a:xfrm>
            <a:off x="12334555" y="7680721"/>
            <a:ext cx="2295845" cy="548879"/>
          </a:xfrm>
          <a:prstGeom prst="rect">
            <a:avLst/>
          </a:prstGeom>
        </p:spPr>
      </p:pic>
      <p:pic>
        <p:nvPicPr>
          <p:cNvPr id="18" name="Picture 17">
            <a:extLst>
              <a:ext uri="{FF2B5EF4-FFF2-40B4-BE49-F238E27FC236}">
                <a16:creationId xmlns:a16="http://schemas.microsoft.com/office/drawing/2014/main" id="{E5FCD63E-56FB-84ED-851F-58F7D8AC1D08}"/>
              </a:ext>
            </a:extLst>
          </p:cNvPr>
          <p:cNvPicPr>
            <a:picLocks noChangeAspect="1"/>
          </p:cNvPicPr>
          <p:nvPr/>
        </p:nvPicPr>
        <p:blipFill>
          <a:blip r:embed="rId8"/>
          <a:stretch>
            <a:fillRect/>
          </a:stretch>
        </p:blipFill>
        <p:spPr>
          <a:xfrm>
            <a:off x="839516" y="208693"/>
            <a:ext cx="9230035" cy="143994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974884"/>
            <a:ext cx="2835235" cy="354330"/>
          </a:xfrm>
          <a:prstGeom prst="rect">
            <a:avLst/>
          </a:prstGeom>
          <a:noFill/>
          <a:ln/>
        </p:spPr>
        <p:txBody>
          <a:bodyPr wrap="none" lIns="0" tIns="0" rIns="0" bIns="0" rtlCol="0" anchor="t"/>
          <a:lstStyle/>
          <a:p>
            <a:pPr marL="0" indent="0" algn="l">
              <a:lnSpc>
                <a:spcPts val="2750"/>
              </a:lnSpc>
              <a:buNone/>
            </a:pP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839516" y="1729461"/>
            <a:ext cx="5670590" cy="708779"/>
          </a:xfrm>
          <a:prstGeom prst="rect">
            <a:avLst/>
          </a:prstGeom>
          <a:noFill/>
          <a:ln/>
        </p:spPr>
        <p:txBody>
          <a:bodyPr wrap="none" lIns="0" tIns="0" rIns="0" bIns="0" rtlCol="0" anchor="t"/>
          <a:lstStyle/>
          <a:p>
            <a:pPr marL="0" indent="0" algn="l">
              <a:lnSpc>
                <a:spcPts val="5550"/>
              </a:lnSpc>
              <a:buNone/>
            </a:pPr>
            <a:r>
              <a:rPr lang="en-US" sz="3200" b="1" dirty="0">
                <a:solidFill>
                  <a:schemeClr val="tx1">
                    <a:lumMod val="95000"/>
                    <a:lumOff val="5000"/>
                  </a:schemeClr>
                </a:solidFill>
                <a:latin typeface="Times New Roman" panose="02020603050405020304" pitchFamily="18" charset="0"/>
                <a:ea typeface="Alexandria" pitchFamily="34" charset="-122"/>
                <a:cs typeface="Times New Roman" panose="02020603050405020304" pitchFamily="18" charset="0"/>
              </a:rPr>
              <a:t>REFERENCES</a:t>
            </a:r>
            <a:endParaRPr lang="en-US" sz="32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4" name="Text 2"/>
          <p:cNvSpPr/>
          <p:nvPr/>
        </p:nvSpPr>
        <p:spPr>
          <a:xfrm>
            <a:off x="793790" y="2604968"/>
            <a:ext cx="13042821" cy="725805"/>
          </a:xfrm>
          <a:prstGeom prst="rect">
            <a:avLst/>
          </a:prstGeom>
          <a:noFill/>
          <a:ln/>
        </p:spPr>
        <p:txBody>
          <a:bodyPr wrap="square" lIns="0" tIns="0" rIns="0" bIns="0" rtlCol="0" anchor="t"/>
          <a:lstStyle/>
          <a:p>
            <a:pPr marL="0" indent="0" algn="l">
              <a:lnSpc>
                <a:spcPts val="2850"/>
              </a:lnSpc>
              <a:buNone/>
            </a:pPr>
            <a:r>
              <a:rPr lang="en-US"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[1] Smith et al. (2021). </a:t>
            </a:r>
            <a:r>
              <a:rPr lang="en-US" i="1"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"Low-Resource Language Speech Recognition."</a:t>
            </a:r>
            <a:r>
              <a:rPr lang="en-US"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 Proceedings of the Association for Computational Linguistics (ACL).</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5" name="Text 3"/>
          <p:cNvSpPr/>
          <p:nvPr/>
        </p:nvSpPr>
        <p:spPr>
          <a:xfrm>
            <a:off x="793790" y="3585924"/>
            <a:ext cx="13042821" cy="725805"/>
          </a:xfrm>
          <a:prstGeom prst="rect">
            <a:avLst/>
          </a:prstGeom>
          <a:noFill/>
          <a:ln/>
        </p:spPr>
        <p:txBody>
          <a:bodyPr wrap="square" lIns="0" tIns="0" rIns="0" bIns="0" rtlCol="0" anchor="t"/>
          <a:lstStyle/>
          <a:p>
            <a:pPr marL="0" indent="0" algn="l">
              <a:lnSpc>
                <a:spcPts val="2850"/>
              </a:lnSpc>
              <a:buNone/>
            </a:pPr>
            <a:r>
              <a:rPr lang="en-US"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[2] Rao et al. (2020). </a:t>
            </a:r>
            <a:r>
              <a:rPr lang="en-US" i="1"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"Community-Based Natural Language Processing Systems: A Participatory Approach."</a:t>
            </a:r>
            <a:r>
              <a:rPr lang="en-US"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 International Joint Conference on Natural Language Processing (IJCNLP).</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6" name="Text 4"/>
          <p:cNvSpPr/>
          <p:nvPr/>
        </p:nvSpPr>
        <p:spPr>
          <a:xfrm>
            <a:off x="793790" y="4566880"/>
            <a:ext cx="13042821" cy="725805"/>
          </a:xfrm>
          <a:prstGeom prst="rect">
            <a:avLst/>
          </a:prstGeom>
          <a:noFill/>
          <a:ln/>
        </p:spPr>
        <p:txBody>
          <a:bodyPr wrap="square" lIns="0" tIns="0" rIns="0" bIns="0" rtlCol="0" anchor="t"/>
          <a:lstStyle/>
          <a:p>
            <a:pPr marL="0" indent="0" algn="l">
              <a:lnSpc>
                <a:spcPts val="2850"/>
              </a:lnSpc>
              <a:buNone/>
            </a:pPr>
            <a:r>
              <a:rPr lang="en-US"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[3] Singh, A. (2022). </a:t>
            </a:r>
            <a:r>
              <a:rPr lang="en-US" i="1"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"AI for Social Good: Inclusion through Technology for Underserved Communities."</a:t>
            </a:r>
            <a:r>
              <a:rPr lang="en-US"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 IEEE Transactions on Technology and Society.</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ext 5"/>
          <p:cNvSpPr/>
          <p:nvPr/>
        </p:nvSpPr>
        <p:spPr>
          <a:xfrm>
            <a:off x="793790" y="5547836"/>
            <a:ext cx="13042821" cy="1088708"/>
          </a:xfrm>
          <a:prstGeom prst="rect">
            <a:avLst/>
          </a:prstGeom>
          <a:noFill/>
          <a:ln/>
        </p:spPr>
        <p:txBody>
          <a:bodyPr wrap="square" lIns="0" tIns="0" rIns="0" bIns="0" rtlCol="0" anchor="t"/>
          <a:lstStyle/>
          <a:p>
            <a:pPr marL="0" indent="0" algn="l">
              <a:lnSpc>
                <a:spcPts val="2850"/>
              </a:lnSpc>
              <a:buNone/>
            </a:pPr>
            <a:r>
              <a:rPr lang="en-US"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[4] Wang, K., &amp; Bandyopadhyay, S. (2019). </a:t>
            </a:r>
            <a:r>
              <a:rPr lang="en-US" i="1"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"Machine Translation for Low-Resource Indian Languages: Challenges and Approaches."</a:t>
            </a:r>
            <a:r>
              <a:rPr lang="en-US"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 Proceedings of the ACM Conference on Computer Supported Cooperative Work and Social Computing (CSCW).</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8" name="Text 6"/>
          <p:cNvSpPr/>
          <p:nvPr/>
        </p:nvSpPr>
        <p:spPr>
          <a:xfrm>
            <a:off x="793790" y="6891695"/>
            <a:ext cx="13042821" cy="362903"/>
          </a:xfrm>
          <a:prstGeom prst="rect">
            <a:avLst/>
          </a:prstGeom>
          <a:noFill/>
          <a:ln/>
        </p:spPr>
        <p:txBody>
          <a:bodyPr wrap="none" lIns="0" tIns="0" rIns="0" bIns="0" rtlCol="0" anchor="t"/>
          <a:lstStyle/>
          <a:p>
            <a:pPr marL="0" indent="0" algn="l">
              <a:lnSpc>
                <a:spcPts val="2850"/>
              </a:lnSpc>
              <a:buNone/>
            </a:pPr>
            <a:r>
              <a:rPr lang="en-US"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[5] Dabre, R., et al. (2020). </a:t>
            </a:r>
            <a:r>
              <a:rPr lang="en-US" i="1"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"Multilingual Neural Machine Translation: A Survey."</a:t>
            </a:r>
            <a:r>
              <a:rPr lang="en-US" dirty="0">
                <a:solidFill>
                  <a:schemeClr val="tx1">
                    <a:lumMod val="95000"/>
                    <a:lumOff val="5000"/>
                  </a:schemeClr>
                </a:solidFill>
                <a:latin typeface="Times New Roman" panose="02020603050405020304" pitchFamily="18" charset="0"/>
                <a:ea typeface="Nobile" pitchFamily="34" charset="-122"/>
                <a:cs typeface="Times New Roman" panose="02020603050405020304" pitchFamily="18" charset="0"/>
              </a:rPr>
              <a:t> ACM Computing Surveys.</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59DE3EB6-B293-ABAF-6161-BE444564FE4C}"/>
              </a:ext>
            </a:extLst>
          </p:cNvPr>
          <p:cNvPicPr>
            <a:picLocks noChangeAspect="1"/>
          </p:cNvPicPr>
          <p:nvPr/>
        </p:nvPicPr>
        <p:blipFill>
          <a:blip r:embed="rId3"/>
          <a:stretch>
            <a:fillRect/>
          </a:stretch>
        </p:blipFill>
        <p:spPr>
          <a:xfrm>
            <a:off x="12334555" y="7680721"/>
            <a:ext cx="2295845" cy="548879"/>
          </a:xfrm>
          <a:prstGeom prst="rect">
            <a:avLst/>
          </a:prstGeom>
        </p:spPr>
      </p:pic>
      <p:pic>
        <p:nvPicPr>
          <p:cNvPr id="10" name="Picture 9">
            <a:extLst>
              <a:ext uri="{FF2B5EF4-FFF2-40B4-BE49-F238E27FC236}">
                <a16:creationId xmlns:a16="http://schemas.microsoft.com/office/drawing/2014/main" id="{418C3892-54C4-78BD-C4F4-9358A97D57A7}"/>
              </a:ext>
            </a:extLst>
          </p:cNvPr>
          <p:cNvPicPr>
            <a:picLocks noChangeAspect="1"/>
          </p:cNvPicPr>
          <p:nvPr/>
        </p:nvPicPr>
        <p:blipFill>
          <a:blip r:embed="rId4"/>
          <a:stretch>
            <a:fillRect/>
          </a:stretch>
        </p:blipFill>
        <p:spPr>
          <a:xfrm>
            <a:off x="839516" y="208693"/>
            <a:ext cx="9230035" cy="143994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TotalTime>
  <Words>606</Words>
  <Application>Microsoft Office PowerPoint</Application>
  <PresentationFormat>Custom</PresentationFormat>
  <Paragraphs>62</Paragraphs>
  <Slides>8</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KESOJU RAJKUMAR</dc:creator>
  <cp:lastModifiedBy>Sai Priya</cp:lastModifiedBy>
  <cp:revision>4</cp:revision>
  <dcterms:created xsi:type="dcterms:W3CDTF">2025-07-31T18:01:25Z</dcterms:created>
  <dcterms:modified xsi:type="dcterms:W3CDTF">2025-08-12T07:48:06Z</dcterms:modified>
</cp:coreProperties>
</file>